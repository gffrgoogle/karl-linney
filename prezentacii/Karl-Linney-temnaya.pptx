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003697"/>
            <a:ext cx="1945680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БИОГРАФИЯ · 1707–1778"/>
          <p:cNvSpPr txBox="1"/>
          <p:nvPr/>
        </p:nvSpPr>
        <p:spPr>
          <a:xfrm>
            <a:off x="996950" y="1035447"/>
            <a:ext cx="1609130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БИОГРАФИЯ · 1707–1778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1113234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Карл Линней — отец систематики"/>
          <p:cNvSpPr txBox="1"/>
          <p:nvPr/>
        </p:nvSpPr>
        <p:spPr>
          <a:xfrm>
            <a:off x="762000" y="1533327"/>
            <a:ext cx="5400377" cy="12267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Карл Линней</a:t>
            </a:r>
            <a:br>
              <a:rPr lang="en-US" sz="4600"/>
            </a:b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— отец систематики</a:t>
            </a:r>
            <a:endParaRPr lang="en-US" sz="4600" dirty="0"/>
          </a:p>
        </p:txBody>
      </p:sp>
      <p:sp>
        <p:nvSpPr>
          <p:cNvPr id="6" name="Text: Шведский учёный, который навёл порядок в"/>
          <p:cNvSpPr txBox="1"/>
          <p:nvPr/>
        </p:nvSpPr>
        <p:spPr>
          <a:xfrm>
            <a:off x="762000" y="2846388"/>
            <a:ext cx="455979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Шведский учёный, который навёл порядок во всём живом мире.</a:t>
            </a:r>
            <a:endParaRPr lang="en-US" sz="1200" dirty="0"/>
          </a:p>
        </p:txBody>
      </p:sp>
      <p:sp>
        <p:nvSpPr>
          <p:cNvPr id="7" name="Text: Выполнила: Самушенко Вероника, ученица 5"/>
          <p:cNvSpPr txBox="1"/>
          <p:nvPr/>
        </p:nvSpPr>
        <p:spPr>
          <a:xfrm>
            <a:off x="762000" y="3252788"/>
            <a:ext cx="3388122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Выполнила: Самушенко Вероника, ученица 5г класса</a:t>
            </a:r>
            <a:endParaRPr lang="en-US" sz="1100" dirty="0"/>
          </a:p>
        </p:txBody>
      </p:sp>
      <p:sp>
        <p:nvSpPr>
          <p:cNvPr id="8" name="Rounded Rectangle"/>
          <p:cNvSpPr/>
          <p:nvPr/>
        </p:nvSpPr>
        <p:spPr>
          <a:xfrm>
            <a:off x="765175" y="3656013"/>
            <a:ext cx="1771650" cy="2198291"/>
          </a:xfrm>
          <a:prstGeom prst="roundRect">
            <a:avLst>
              <a:gd name="adj" fmla="val 5556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9" name="Image: Портрет Карла Линнея"/>
          <p:cNvPicPr>
            <a:picLocks noChangeAspect="1"/>
          </p:cNvPicPr>
          <p:nvPr/>
        </p:nvPicPr>
        <p:blipFill>
          <a:blip r:embed="rId2"/>
          <a:srcRect l="1049" t="0" r="1049" b="0"/>
          <a:stretch>
            <a:fillRect/>
          </a:stretch>
        </p:blipFill>
        <p:spPr>
          <a:xfrm>
            <a:off x="768350" y="3659188"/>
            <a:ext cx="1765300" cy="2191941"/>
          </a:xfrm>
          <a:prstGeom prst="rect">
            <a:avLst/>
          </a:prstGeom>
          <a:ln>
            <a:noFill/>
          </a:ln>
        </p:spPr>
      </p:pic>
      <p:pic>
        <p:nvPicPr>
          <p:cNvPr id="10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232" y="0"/>
            <a:ext cx="4717750" cy="492460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930698"/>
            <a:ext cx="133270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ЕГО БИОГРАФИЯ"/>
          <p:cNvSpPr txBox="1"/>
          <p:nvPr/>
        </p:nvSpPr>
        <p:spPr>
          <a:xfrm>
            <a:off x="996950" y="1962448"/>
            <a:ext cx="99615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ЕГО БИОГРАФИЯ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204023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Путь Карла Линнея"/>
          <p:cNvSpPr txBox="1"/>
          <p:nvPr/>
        </p:nvSpPr>
        <p:spPr>
          <a:xfrm>
            <a:off x="762000" y="2406948"/>
            <a:ext cx="2893219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Путь Карла Линнея</a:t>
            </a:r>
            <a:endParaRPr lang="en-US" sz="25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2886373"/>
            <a:ext cx="1644650" cy="2040830"/>
          </a:xfrm>
          <a:prstGeom prst="roundRect">
            <a:avLst>
              <a:gd name="adj" fmla="val 5985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7" name="Image: Портрет молодого Линнея"/>
          <p:cNvPicPr>
            <a:picLocks noChangeAspect="1"/>
          </p:cNvPicPr>
          <p:nvPr/>
        </p:nvPicPr>
        <p:blipFill>
          <a:blip r:embed="rId2"/>
          <a:srcRect l="718" t="0" r="718" b="0"/>
          <a:stretch>
            <a:fillRect/>
          </a:stretch>
        </p:blipFill>
        <p:spPr>
          <a:xfrm>
            <a:off x="768350" y="2889548"/>
            <a:ext cx="1638300" cy="2034480"/>
          </a:xfrm>
          <a:prstGeom prst="rect">
            <a:avLst/>
          </a:prstGeom>
          <a:ln>
            <a:noFill/>
          </a:ln>
        </p:spPr>
      </p:pic>
      <p:sp>
        <p:nvSpPr>
          <p:cNvPr id="8" name="Rounded Rectangle"/>
          <p:cNvSpPr/>
          <p:nvPr/>
        </p:nvSpPr>
        <p:spPr>
          <a:xfrm>
            <a:off x="2644775" y="2943523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9" name="Ellipse"/>
          <p:cNvSpPr/>
          <p:nvPr/>
        </p:nvSpPr>
        <p:spPr>
          <a:xfrm>
            <a:off x="2787650" y="311685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0" name="Text: Родился в Швеции в семье пастора."/>
          <p:cNvSpPr txBox="1"/>
          <p:nvPr/>
        </p:nvSpPr>
        <p:spPr>
          <a:xfrm>
            <a:off x="2978150" y="3031788"/>
            <a:ext cx="2502495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Родился в Швеции в семье пастора.</a:t>
            </a:r>
            <a:endParaRPr lang="en-US" sz="1200" dirty="0"/>
          </a:p>
        </p:txBody>
      </p:sp>
      <p:sp>
        <p:nvSpPr>
          <p:cNvPr id="11" name="Rounded Rectangle"/>
          <p:cNvSpPr/>
          <p:nvPr/>
        </p:nvSpPr>
        <p:spPr>
          <a:xfrm>
            <a:off x="2644775" y="3448943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2" name="Ellipse"/>
          <p:cNvSpPr/>
          <p:nvPr/>
        </p:nvSpPr>
        <p:spPr>
          <a:xfrm>
            <a:off x="2787650" y="362227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3" name="Text: С детства любил растения."/>
          <p:cNvSpPr txBox="1"/>
          <p:nvPr/>
        </p:nvSpPr>
        <p:spPr>
          <a:xfrm>
            <a:off x="2978150" y="3537208"/>
            <a:ext cx="1850926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 детства любил растения.</a:t>
            </a:r>
            <a:endParaRPr lang="en-US" sz="1200" dirty="0"/>
          </a:p>
        </p:txBody>
      </p:sp>
      <p:sp>
        <p:nvSpPr>
          <p:cNvPr id="14" name="Rounded Rectangle"/>
          <p:cNvSpPr/>
          <p:nvPr/>
        </p:nvSpPr>
        <p:spPr>
          <a:xfrm>
            <a:off x="2644775" y="3954363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5" name="Ellipse"/>
          <p:cNvSpPr/>
          <p:nvPr/>
        </p:nvSpPr>
        <p:spPr>
          <a:xfrm>
            <a:off x="2787650" y="412769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6" name="Text: Учился на врача и ботаника."/>
          <p:cNvSpPr txBox="1"/>
          <p:nvPr/>
        </p:nvSpPr>
        <p:spPr>
          <a:xfrm>
            <a:off x="2978150" y="4042628"/>
            <a:ext cx="1987748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Учился на врача и ботаника.</a:t>
            </a:r>
            <a:endParaRPr lang="en-US" sz="1200" dirty="0"/>
          </a:p>
        </p:txBody>
      </p:sp>
      <p:sp>
        <p:nvSpPr>
          <p:cNvPr id="17" name="Rounded Rectangle"/>
          <p:cNvSpPr/>
          <p:nvPr/>
        </p:nvSpPr>
        <p:spPr>
          <a:xfrm>
            <a:off x="2644775" y="4459784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8" name="Ellipse"/>
          <p:cNvSpPr/>
          <p:nvPr/>
        </p:nvSpPr>
        <p:spPr>
          <a:xfrm>
            <a:off x="2787650" y="4633119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9" name="Text: Доктор медицины в Голландии."/>
          <p:cNvSpPr txBox="1"/>
          <p:nvPr/>
        </p:nvSpPr>
        <p:spPr>
          <a:xfrm>
            <a:off x="2978150" y="4548049"/>
            <a:ext cx="2219325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Доктор медицины в Голландии.</a:t>
            </a:r>
            <a:endParaRPr lang="en-US" sz="1200" dirty="0"/>
          </a:p>
        </p:txBody>
      </p:sp>
      <p:pic>
        <p:nvPicPr>
          <p:cNvPr id="20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1169"/>
            <a:ext cx="4716786" cy="389575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2381548"/>
            <a:ext cx="156259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ГЛАВНОЕ ОТКРЫТИЕ"/>
          <p:cNvSpPr txBox="1"/>
          <p:nvPr/>
        </p:nvSpPr>
        <p:spPr>
          <a:xfrm>
            <a:off x="996950" y="2413298"/>
            <a:ext cx="122604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ГЛАВНОЕ ОТКРЫТИЕ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249108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Двойные названия"/>
          <p:cNvSpPr txBox="1"/>
          <p:nvPr/>
        </p:nvSpPr>
        <p:spPr>
          <a:xfrm>
            <a:off x="762000" y="2845098"/>
            <a:ext cx="2854027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Двойные названия</a:t>
            </a:r>
            <a:endParaRPr lang="en-US" sz="2500" dirty="0"/>
          </a:p>
        </p:txBody>
      </p:sp>
      <p:sp>
        <p:nvSpPr>
          <p:cNvPr id="6" name="Text: Линней дал каждому виду  два слова : сна"/>
          <p:cNvSpPr txBox="1"/>
          <p:nvPr/>
        </p:nvSpPr>
        <p:spPr>
          <a:xfrm>
            <a:off x="762000" y="3295948"/>
            <a:ext cx="778252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Линней дал каждому виду </a:t>
            </a:r>
            <a:r>
              <a:rPr lang="en-US" sz="12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два слова</a:t>
            </a: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: сначала род, потом вид. Теперь учёные всех стран понимают друг друга.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3718223"/>
            <a:ext cx="3464917" cy="758130"/>
          </a:xfrm>
          <a:prstGeom prst="roundRect">
            <a:avLst>
              <a:gd name="adj" fmla="val 12983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8" name="Text: FELIS CATUS"/>
          <p:cNvSpPr txBox="1"/>
          <p:nvPr/>
        </p:nvSpPr>
        <p:spPr>
          <a:xfrm>
            <a:off x="933450" y="3861098"/>
            <a:ext cx="71229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112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FELIS CATUS</a:t>
            </a:r>
            <a:endParaRPr lang="en-US" sz="800" dirty="0"/>
          </a:p>
        </p:txBody>
      </p:sp>
      <p:sp>
        <p:nvSpPr>
          <p:cNvPr id="9" name="Text: домашняя кошка"/>
          <p:cNvSpPr txBox="1"/>
          <p:nvPr/>
        </p:nvSpPr>
        <p:spPr>
          <a:xfrm>
            <a:off x="933450" y="4080808"/>
            <a:ext cx="1295400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домашняя кошка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>
            <a:off x="4363442" y="3718223"/>
            <a:ext cx="3465016" cy="758130"/>
          </a:xfrm>
          <a:prstGeom prst="roundRect">
            <a:avLst>
              <a:gd name="adj" fmla="val 12983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1" name="Text: ROSA CANINA"/>
          <p:cNvSpPr txBox="1"/>
          <p:nvPr/>
        </p:nvSpPr>
        <p:spPr>
          <a:xfrm>
            <a:off x="4531717" y="3861098"/>
            <a:ext cx="813197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112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ROSA CANINA</a:t>
            </a:r>
            <a:endParaRPr lang="en-US" sz="800" dirty="0"/>
          </a:p>
        </p:txBody>
      </p:sp>
      <p:sp>
        <p:nvSpPr>
          <p:cNvPr id="12" name="Text: шиповник"/>
          <p:cNvSpPr txBox="1"/>
          <p:nvPr/>
        </p:nvSpPr>
        <p:spPr>
          <a:xfrm>
            <a:off x="4531717" y="4080808"/>
            <a:ext cx="77678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шиповник</a:t>
            </a:r>
            <a:endParaRPr lang="en-US" sz="1300" dirty="0"/>
          </a:p>
        </p:txBody>
      </p:sp>
      <p:sp>
        <p:nvSpPr>
          <p:cNvPr id="13" name="Rounded Rectangle"/>
          <p:cNvSpPr/>
          <p:nvPr/>
        </p:nvSpPr>
        <p:spPr>
          <a:xfrm>
            <a:off x="7961809" y="3718223"/>
            <a:ext cx="3465016" cy="758130"/>
          </a:xfrm>
          <a:prstGeom prst="roundRect">
            <a:avLst>
              <a:gd name="adj" fmla="val 12983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4" name="Text: HOMO SAPIENS"/>
          <p:cNvSpPr txBox="1"/>
          <p:nvPr/>
        </p:nvSpPr>
        <p:spPr>
          <a:xfrm>
            <a:off x="8130084" y="3861098"/>
            <a:ext cx="899914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112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HOMO SAPIENS</a:t>
            </a:r>
            <a:endParaRPr lang="en-US" sz="800" dirty="0"/>
          </a:p>
        </p:txBody>
      </p:sp>
      <p:sp>
        <p:nvSpPr>
          <p:cNvPr id="15" name="Text: человек разумный"/>
          <p:cNvSpPr txBox="1"/>
          <p:nvPr/>
        </p:nvSpPr>
        <p:spPr>
          <a:xfrm>
            <a:off x="8130084" y="4080808"/>
            <a:ext cx="1415157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человек разумный</a:t>
            </a:r>
            <a:endParaRPr lang="en-US" sz="1300" dirty="0"/>
          </a:p>
        </p:txBody>
      </p:sp>
      <p:pic>
        <p:nvPicPr>
          <p:cNvPr id="16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521" y="0"/>
            <a:ext cx="4960388" cy="3896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830388"/>
            <a:ext cx="156259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КАК ЭТО УСТРОЕНО"/>
          <p:cNvSpPr txBox="1"/>
          <p:nvPr/>
        </p:nvSpPr>
        <p:spPr>
          <a:xfrm>
            <a:off x="996950" y="1862138"/>
            <a:ext cx="122604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КАК ЭТО УСТРОЕНО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193992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Лестница живого мира"/>
          <p:cNvSpPr txBox="1"/>
          <p:nvPr/>
        </p:nvSpPr>
        <p:spPr>
          <a:xfrm>
            <a:off x="762000" y="2293938"/>
            <a:ext cx="3479304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Лестница живого мира</a:t>
            </a:r>
            <a:endParaRPr lang="en-US" sz="2500" dirty="0"/>
          </a:p>
        </p:txBody>
      </p:sp>
      <p:sp>
        <p:nvSpPr>
          <p:cNvPr id="6" name="Text: Живой мир Линней расположил по группам о"/>
          <p:cNvSpPr txBox="1"/>
          <p:nvPr/>
        </p:nvSpPr>
        <p:spPr>
          <a:xfrm>
            <a:off x="762000" y="2744788"/>
            <a:ext cx="576927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Живой мир Линней расположил по группам одна внутри другой — как матрёшки.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3167063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8" name="Text: КЛАСС"/>
          <p:cNvSpPr txBox="1"/>
          <p:nvPr/>
        </p:nvSpPr>
        <p:spPr>
          <a:xfrm>
            <a:off x="908050" y="3255963"/>
            <a:ext cx="355898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КЛАСС</a:t>
            </a:r>
            <a:endParaRPr lang="en-US" sz="950" dirty="0"/>
          </a:p>
        </p:txBody>
      </p:sp>
      <p:sp>
        <p:nvSpPr>
          <p:cNvPr id="9" name="Text: самая большая группа похожих существ"/>
          <p:cNvSpPr txBox="1"/>
          <p:nvPr/>
        </p:nvSpPr>
        <p:spPr>
          <a:xfrm>
            <a:off x="2241550" y="3262313"/>
            <a:ext cx="2933601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самая большая группа похожих существ</a:t>
            </a:r>
            <a:endParaRPr lang="en-US" sz="1250" dirty="0"/>
          </a:p>
        </p:txBody>
      </p:sp>
      <p:sp>
        <p:nvSpPr>
          <p:cNvPr id="10" name="Rounded Rectangle"/>
          <p:cNvSpPr/>
          <p:nvPr/>
        </p:nvSpPr>
        <p:spPr>
          <a:xfrm>
            <a:off x="765175" y="3652838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1" name="Text: ОТРЯД / ПОРЯДОК"/>
          <p:cNvSpPr txBox="1"/>
          <p:nvPr/>
        </p:nvSpPr>
        <p:spPr>
          <a:xfrm>
            <a:off x="908050" y="3741738"/>
            <a:ext cx="1067495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ОТРЯД / ПОРЯДОК</a:t>
            </a:r>
            <a:endParaRPr lang="en-US" sz="950" dirty="0"/>
          </a:p>
        </p:txBody>
      </p:sp>
      <p:sp>
        <p:nvSpPr>
          <p:cNvPr id="12" name="Text: поменьше, внутри класса"/>
          <p:cNvSpPr txBox="1"/>
          <p:nvPr/>
        </p:nvSpPr>
        <p:spPr>
          <a:xfrm>
            <a:off x="2241550" y="3748088"/>
            <a:ext cx="1844477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поменьше, внутри класса</a:t>
            </a:r>
            <a:endParaRPr lang="en-US" sz="1250" dirty="0"/>
          </a:p>
        </p:txBody>
      </p:sp>
      <p:sp>
        <p:nvSpPr>
          <p:cNvPr id="13" name="Rounded Rectangle"/>
          <p:cNvSpPr/>
          <p:nvPr/>
        </p:nvSpPr>
        <p:spPr>
          <a:xfrm>
            <a:off x="765175" y="4138613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4" name="Text: РОД"/>
          <p:cNvSpPr txBox="1"/>
          <p:nvPr/>
        </p:nvSpPr>
        <p:spPr>
          <a:xfrm>
            <a:off x="908050" y="4227513"/>
            <a:ext cx="213519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РОД</a:t>
            </a:r>
            <a:endParaRPr lang="en-US" sz="950" dirty="0"/>
          </a:p>
        </p:txBody>
      </p:sp>
      <p:sp>
        <p:nvSpPr>
          <p:cNvPr id="15" name="Text: очень похожие друг на друга"/>
          <p:cNvSpPr txBox="1"/>
          <p:nvPr/>
        </p:nvSpPr>
        <p:spPr>
          <a:xfrm>
            <a:off x="2241550" y="4233863"/>
            <a:ext cx="2130425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очень похожие друг на друга</a:t>
            </a:r>
            <a:endParaRPr lang="en-US" sz="1250" dirty="0"/>
          </a:p>
        </p:txBody>
      </p:sp>
      <p:sp>
        <p:nvSpPr>
          <p:cNvPr id="16" name="Rounded Rectangle"/>
          <p:cNvSpPr/>
          <p:nvPr/>
        </p:nvSpPr>
        <p:spPr>
          <a:xfrm>
            <a:off x="765175" y="4624388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7" name="Text: ВИД"/>
          <p:cNvSpPr txBox="1"/>
          <p:nvPr/>
        </p:nvSpPr>
        <p:spPr>
          <a:xfrm>
            <a:off x="908050" y="4713288"/>
            <a:ext cx="213519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ВИД</a:t>
            </a:r>
            <a:endParaRPr lang="en-US" sz="950" dirty="0"/>
          </a:p>
        </p:txBody>
      </p:sp>
      <p:sp>
        <p:nvSpPr>
          <p:cNvPr id="18" name="Text: самая маленькая группа — одно существо"/>
          <p:cNvSpPr txBox="1"/>
          <p:nvPr/>
        </p:nvSpPr>
        <p:spPr>
          <a:xfrm>
            <a:off x="2241550" y="4719638"/>
            <a:ext cx="3092152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самая маленькая группа — одно существо</a:t>
            </a:r>
            <a:endParaRPr lang="en-US" sz="1250" dirty="0"/>
          </a:p>
        </p:txBody>
      </p:sp>
      <p:pic>
        <p:nvPicPr>
          <p:cNvPr id="19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0388" cy="3896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987947"/>
            <a:ext cx="156259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ИНТЕРЕСНЫЕ ФАКТЫ"/>
          <p:cNvSpPr txBox="1"/>
          <p:nvPr/>
        </p:nvSpPr>
        <p:spPr>
          <a:xfrm>
            <a:off x="996950" y="2019697"/>
            <a:ext cx="122604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ИНТЕРЕСНЫЕ ФАКТЫ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2097484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Знаешь ли ты?"/>
          <p:cNvSpPr txBox="1"/>
          <p:nvPr/>
        </p:nvSpPr>
        <p:spPr>
          <a:xfrm>
            <a:off x="762000" y="2464197"/>
            <a:ext cx="2182416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Знаешь ли ты?</a:t>
            </a:r>
            <a:endParaRPr lang="en-US" sz="25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2943622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7" name="Ellipse"/>
          <p:cNvSpPr/>
          <p:nvPr/>
        </p:nvSpPr>
        <p:spPr>
          <a:xfrm>
            <a:off x="908050" y="3116957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8" name="Text: Назвал человека Homo sapiens — «человек "/>
          <p:cNvSpPr txBox="1"/>
          <p:nvPr/>
        </p:nvSpPr>
        <p:spPr>
          <a:xfrm>
            <a:off x="1098550" y="3031887"/>
            <a:ext cx="3895527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Назвал человека Homo sapiens — «человек разумный».</a:t>
            </a:r>
            <a:endParaRPr lang="en-US" sz="1200" dirty="0"/>
          </a:p>
        </p:txBody>
      </p:sp>
      <p:sp>
        <p:nvSpPr>
          <p:cNvPr id="9" name="Rounded Rectangle"/>
          <p:cNvSpPr/>
          <p:nvPr/>
        </p:nvSpPr>
        <p:spPr>
          <a:xfrm>
            <a:off x="765175" y="3449042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0" name="Ellipse"/>
          <p:cNvSpPr/>
          <p:nvPr/>
        </p:nvSpPr>
        <p:spPr>
          <a:xfrm>
            <a:off x="908050" y="3622377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1" name="Text: Книга «Система природы» (1735) описывает"/>
          <p:cNvSpPr txBox="1"/>
          <p:nvPr/>
        </p:nvSpPr>
        <p:spPr>
          <a:xfrm>
            <a:off x="1098550" y="3537307"/>
            <a:ext cx="4287441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Книга «Система природы» (1735) описывает весь живой мир.</a:t>
            </a:r>
            <a:endParaRPr lang="en-US" sz="1200" dirty="0"/>
          </a:p>
        </p:txBody>
      </p:sp>
      <p:sp>
        <p:nvSpPr>
          <p:cNvPr id="12" name="Rounded Rectangle"/>
          <p:cNvSpPr/>
          <p:nvPr/>
        </p:nvSpPr>
        <p:spPr>
          <a:xfrm>
            <a:off x="765175" y="3954463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908050" y="412779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4" name="Text: «Виды растений» (1753) — описания всех и"/>
          <p:cNvSpPr txBox="1"/>
          <p:nvPr/>
        </p:nvSpPr>
        <p:spPr>
          <a:xfrm>
            <a:off x="1098550" y="4042728"/>
            <a:ext cx="4363541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«Виды растений» (1753) — описания всех известных растений.</a:t>
            </a:r>
            <a:endParaRPr lang="en-US" sz="1200" dirty="0"/>
          </a:p>
        </p:txBody>
      </p:sp>
      <p:sp>
        <p:nvSpPr>
          <p:cNvPr id="15" name="Rounded Rectangle"/>
          <p:cNvSpPr/>
          <p:nvPr/>
        </p:nvSpPr>
        <p:spPr>
          <a:xfrm>
            <a:off x="765175" y="4459883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6" name="Ellipse"/>
          <p:cNvSpPr/>
          <p:nvPr/>
        </p:nvSpPr>
        <p:spPr>
          <a:xfrm>
            <a:off x="908050" y="463321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7" name="Text: Символы ♂ и ♀ для мужского и женского пр"/>
          <p:cNvSpPr txBox="1"/>
          <p:nvPr/>
        </p:nvSpPr>
        <p:spPr>
          <a:xfrm>
            <a:off x="1098550" y="4548148"/>
            <a:ext cx="3885009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Символы ♂ и ♀ для мужского и женского придумал он.</a:t>
            </a:r>
            <a:endParaRPr lang="en-US" sz="1200" dirty="0"/>
          </a:p>
        </p:txBody>
      </p:sp>
      <p:pic>
        <p:nvPicPr>
          <p:cNvPr id="18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0" y="2615400"/>
            <a:ext cx="4349174" cy="423944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029097"/>
            <a:ext cx="64313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ИТОГ"/>
          <p:cNvSpPr txBox="1"/>
          <p:nvPr/>
        </p:nvSpPr>
        <p:spPr>
          <a:xfrm>
            <a:off x="996950" y="1060847"/>
            <a:ext cx="3065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ИТОГ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1138634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Спасибо за внимание!"/>
          <p:cNvSpPr txBox="1"/>
          <p:nvPr/>
        </p:nvSpPr>
        <p:spPr>
          <a:xfrm>
            <a:off x="4327922" y="1546027"/>
            <a:ext cx="3536156" cy="12267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8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Спасибо</a:t>
            </a:r>
            <a:br>
              <a:rPr lang="en-US" sz="4600"/>
            </a:b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за внимание!</a:t>
            </a:r>
            <a:endParaRPr lang="en-US" sz="4600" dirty="0"/>
          </a:p>
        </p:txBody>
      </p:sp>
      <p:sp>
        <p:nvSpPr>
          <p:cNvPr id="6" name="Text: Систему Линнея используют учёные всего м"/>
          <p:cNvSpPr txBox="1"/>
          <p:nvPr/>
        </p:nvSpPr>
        <p:spPr>
          <a:xfrm>
            <a:off x="3901480" y="2846388"/>
            <a:ext cx="438904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Систему Линнея используют учёные всего мира и по сей день.</a:t>
            </a:r>
            <a:endParaRPr lang="en-US" sz="1200" dirty="0"/>
          </a:p>
        </p:txBody>
      </p:sp>
      <p:sp>
        <p:nvSpPr>
          <p:cNvPr id="7" name="Text: Выполнила: Самушенко Вероника, ученица 5"/>
          <p:cNvSpPr txBox="1"/>
          <p:nvPr/>
        </p:nvSpPr>
        <p:spPr>
          <a:xfrm>
            <a:off x="4401939" y="3240088"/>
            <a:ext cx="3388122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Выполнила: Самушенко Вероника, ученица 5г класса</a:t>
            </a:r>
            <a:endParaRPr lang="en-US" sz="1100" dirty="0"/>
          </a:p>
        </p:txBody>
      </p:sp>
      <p:sp>
        <p:nvSpPr>
          <p:cNvPr id="8" name="Rounded Rectangle"/>
          <p:cNvSpPr/>
          <p:nvPr/>
        </p:nvSpPr>
        <p:spPr>
          <a:xfrm>
            <a:off x="5210175" y="3630613"/>
            <a:ext cx="1771650" cy="2198291"/>
          </a:xfrm>
          <a:prstGeom prst="roundRect">
            <a:avLst>
              <a:gd name="adj" fmla="val 5556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9" name="Image: Портрет Линнея"/>
          <p:cNvPicPr>
            <a:picLocks noChangeAspect="1"/>
          </p:cNvPicPr>
          <p:nvPr/>
        </p:nvPicPr>
        <p:blipFill>
          <a:blip r:embed="rId2"/>
          <a:srcRect l="0" t="946" r="0" b="946"/>
          <a:stretch>
            <a:fillRect/>
          </a:stretch>
        </p:blipFill>
        <p:spPr>
          <a:xfrm>
            <a:off x="5213350" y="3633788"/>
            <a:ext cx="1765300" cy="2191941"/>
          </a:xfrm>
          <a:prstGeom prst="rect">
            <a:avLst/>
          </a:prstGeom>
          <a:ln>
            <a:noFill/>
          </a:ln>
        </p:spPr>
      </p:pic>
      <p:pic>
        <p:nvPicPr>
          <p:cNvPr id="10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2695"/>
            <a:ext cx="4959061" cy="504639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