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1.jpe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3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9883" cy="6857799"/>
          </a:xfrm>
          <a:prstGeom prst="rect">
            <a:avLst/>
          </a:prstGeom>
          <a:ln>
            <a:noFill/>
          </a:ln>
        </p:spPr>
      </p:pic>
      <p:sp>
        <p:nvSpPr>
          <p:cNvPr id="3" name="Rounded Rectangle"/>
          <p:cNvSpPr/>
          <p:nvPr/>
        </p:nvSpPr>
        <p:spPr>
          <a:xfrm>
            <a:off x="577850" y="757436"/>
            <a:ext cx="2022872" cy="349250"/>
          </a:xfrm>
          <a:prstGeom prst="roundRect">
            <a:avLst>
              <a:gd name="adj" fmla="val 50000"/>
            </a:avLst>
          </a:prstGeom>
          <a:solidFill>
            <a:srgbClr val="FF4D8D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4" name="Text: биография · 1707–1778"/>
          <p:cNvSpPr txBox="1"/>
          <p:nvPr/>
        </p:nvSpPr>
        <p:spPr>
          <a:xfrm>
            <a:off x="711200" y="814586"/>
            <a:ext cx="1756172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66" dirty="0">
                <a:solidFill>
                  <a:srgbClr val="FFF2E8"/>
                </a:solidFill>
                <a:latin typeface="Segoe UI"/>
                <a:ea typeface="Segoe UI"/>
                <a:cs typeface="Segoe UI"/>
              </a:rPr>
              <a:t>биография · 1707–1778</a:t>
            </a:r>
            <a:endParaRPr lang="en-US" sz="1100" dirty="0"/>
          </a:p>
        </p:txBody>
      </p:sp>
      <p:sp>
        <p:nvSpPr>
          <p:cNvPr id="5" name="Text: Карл Линней — отец систематики"/>
          <p:cNvSpPr txBox="1"/>
          <p:nvPr/>
        </p:nvSpPr>
        <p:spPr>
          <a:xfrm>
            <a:off x="571500" y="1398290"/>
            <a:ext cx="6096000" cy="11947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spc="-96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Карл Линней</a:t>
            </a:r>
            <a:br>
              <a:rPr lang="en-US" sz="4800"/>
            </a:br>
            <a:r>
              <a:rPr lang="en-US" sz="4800" b="1" spc="-96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— отец систематики</a:t>
            </a:r>
            <a:endParaRPr lang="en-US" sz="4800" dirty="0"/>
          </a:p>
        </p:txBody>
      </p:sp>
      <p:sp>
        <p:nvSpPr>
          <p:cNvPr id="6" name="Text: Шведский учёный, который навёл порядок в"/>
          <p:cNvSpPr txBox="1"/>
          <p:nvPr/>
        </p:nvSpPr>
        <p:spPr>
          <a:xfrm>
            <a:off x="571500" y="2646918"/>
            <a:ext cx="5324673" cy="2578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Шведский учёный, который навёл порядок во всём живом мире.</a:t>
            </a:r>
            <a:endParaRPr lang="en-US" sz="1400" dirty="0"/>
          </a:p>
        </p:txBody>
      </p:sp>
      <p:sp>
        <p:nvSpPr>
          <p:cNvPr id="7" name="Text: Выполнила: Самушенко Вероника, ученица 5"/>
          <p:cNvSpPr txBox="1"/>
          <p:nvPr/>
        </p:nvSpPr>
        <p:spPr>
          <a:xfrm>
            <a:off x="571500" y="3088203"/>
            <a:ext cx="4008537" cy="2393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Выполнила: Самушенко Вероника, ученица 5г класса</a:t>
            </a:r>
            <a:endParaRPr lang="en-US" sz="1300" dirty="0"/>
          </a:p>
        </p:txBody>
      </p:sp>
      <p:sp>
        <p:nvSpPr>
          <p:cNvPr id="8" name="Rounded Rectangle"/>
          <p:cNvSpPr/>
          <p:nvPr/>
        </p:nvSpPr>
        <p:spPr>
          <a:xfrm rot="60000">
            <a:off x="581025" y="3576439"/>
            <a:ext cx="2076451" cy="2520951"/>
          </a:xfrm>
          <a:prstGeom prst="roundRect">
            <a:avLst>
              <a:gd name="adj" fmla="val 6269"/>
            </a:avLst>
          </a:prstGeom>
          <a:noFill/>
          <a:ln w="19050" cap="flat" cmpd="sng" algn="ctr">
            <a:solidFill>
              <a:srgbClr val="2D1B4E"/>
            </a:solidFill>
            <a:miter lim="800000"/>
          </a:ln>
          <a:effectLst>
            <a:outerShdw blurRad="0" dist="53882" dir="2700000" sx="100000" sy="100000" algn="ctr" rotWithShape="0">
              <a:srgbClr val="2D1B4E"/>
            </a:outerShdw>
          </a:effectLst>
        </p:spPr>
      </p:sp>
      <p:pic>
        <p:nvPicPr>
          <p:cNvPr id="9" name="Image: Портрет Карла Линнея"/>
          <p:cNvPicPr>
            <a:picLocks noChangeAspect="1"/>
          </p:cNvPicPr>
          <p:nvPr/>
        </p:nvPicPr>
        <p:blipFill>
          <a:blip r:embed="rId3"/>
          <a:srcRect l="17" t="0" r="17" b="0"/>
          <a:stretch>
            <a:fillRect/>
          </a:stretch>
        </p:blipFill>
        <p:spPr>
          <a:xfrm rot="60000">
            <a:off x="590550" y="3585964"/>
            <a:ext cx="2057401" cy="2501901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577850" y="1702792"/>
            <a:ext cx="1383010" cy="349250"/>
          </a:xfrm>
          <a:prstGeom prst="roundRect">
            <a:avLst>
              <a:gd name="adj" fmla="val 50000"/>
            </a:avLst>
          </a:prstGeom>
          <a:solidFill>
            <a:srgbClr val="6D4CFF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3" name="Text: его биография"/>
          <p:cNvSpPr txBox="1"/>
          <p:nvPr/>
        </p:nvSpPr>
        <p:spPr>
          <a:xfrm>
            <a:off x="711200" y="1759942"/>
            <a:ext cx="1116310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66" dirty="0">
                <a:solidFill>
                  <a:srgbClr val="FFF2E8"/>
                </a:solidFill>
                <a:latin typeface="Segoe UI"/>
                <a:ea typeface="Segoe UI"/>
                <a:cs typeface="Segoe UI"/>
              </a:rPr>
              <a:t>его биография</a:t>
            </a:r>
            <a:endParaRPr lang="en-US" sz="1100" dirty="0"/>
          </a:p>
        </p:txBody>
      </p:sp>
      <p:sp>
        <p:nvSpPr>
          <p:cNvPr id="4" name="Text: Путь Карла Линнея"/>
          <p:cNvSpPr txBox="1"/>
          <p:nvPr/>
        </p:nvSpPr>
        <p:spPr>
          <a:xfrm>
            <a:off x="571500" y="2269847"/>
            <a:ext cx="3420269" cy="3600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Путь Карла Линнея</a:t>
            </a:r>
            <a:endParaRPr lang="en-US" sz="2700" dirty="0"/>
          </a:p>
        </p:txBody>
      </p:sp>
      <p:sp>
        <p:nvSpPr>
          <p:cNvPr id="5" name="Rounded Rectangle"/>
          <p:cNvSpPr/>
          <p:nvPr/>
        </p:nvSpPr>
        <p:spPr>
          <a:xfrm>
            <a:off x="581025" y="2758083"/>
            <a:ext cx="1885950" cy="2393950"/>
          </a:xfrm>
          <a:prstGeom prst="roundRect">
            <a:avLst>
              <a:gd name="adj" fmla="val 6229"/>
            </a:avLst>
          </a:prstGeom>
          <a:noFill/>
          <a:ln w="19050" cap="flat" cmpd="sng" algn="ctr">
            <a:solidFill>
              <a:srgbClr val="2D1B4E"/>
            </a:solidFill>
            <a:miter lim="800000"/>
          </a:ln>
          <a:effectLst>
            <a:outerShdw blurRad="0" dist="53882" dir="2700000" sx="100000" sy="100000" algn="ctr" rotWithShape="0">
              <a:srgbClr val="2D1B4E"/>
            </a:outerShdw>
          </a:effectLst>
        </p:spPr>
      </p:sp>
      <p:pic>
        <p:nvPicPr>
          <p:cNvPr id="6" name="Image: Портрет молодого Линнея"/>
          <p:cNvPicPr>
            <a:picLocks noChangeAspect="1"/>
          </p:cNvPicPr>
          <p:nvPr/>
        </p:nvPicPr>
        <p:blipFill>
          <a:blip r:embed="rId2"/>
          <a:srcRect l="1891" t="0" r="1891" b="0"/>
          <a:stretch>
            <a:fillRect/>
          </a:stretch>
        </p:blipFill>
        <p:spPr>
          <a:xfrm>
            <a:off x="590550" y="2767608"/>
            <a:ext cx="1866900" cy="2374900"/>
          </a:xfrm>
          <a:prstGeom prst="rect">
            <a:avLst/>
          </a:prstGeom>
          <a:ln>
            <a:noFill/>
          </a:ln>
        </p:spPr>
      </p:pic>
      <p:sp>
        <p:nvSpPr>
          <p:cNvPr id="7" name="Rounded Rectangle"/>
          <p:cNvSpPr/>
          <p:nvPr/>
        </p:nvSpPr>
        <p:spPr>
          <a:xfrm>
            <a:off x="2686050" y="3001367"/>
            <a:ext cx="8928100" cy="400645"/>
          </a:xfrm>
          <a:prstGeom prst="roundRect">
            <a:avLst>
              <a:gd name="adj" fmla="val 26944"/>
            </a:avLst>
          </a:prstGeom>
          <a:solidFill>
            <a:srgbClr val="FFE6D3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8" name="Rounded Rectangle"/>
          <p:cNvSpPr/>
          <p:nvPr/>
        </p:nvSpPr>
        <p:spPr>
          <a:xfrm>
            <a:off x="2806700" y="3138190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6D4CFF"/>
          </a:solidFill>
          <a:ln>
            <a:noFill/>
          </a:ln>
        </p:spPr>
      </p:sp>
      <p:sp>
        <p:nvSpPr>
          <p:cNvPr id="9" name="Text: Родился 23 мая 1707 года в Швеции, в сем"/>
          <p:cNvSpPr txBox="1"/>
          <p:nvPr/>
        </p:nvSpPr>
        <p:spPr>
          <a:xfrm>
            <a:off x="3035300" y="3089632"/>
            <a:ext cx="4228703" cy="2228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Родился 23 мая 1707 года в Швеции, в семье пастора.</a:t>
            </a:r>
            <a:endParaRPr lang="en-US" sz="1350" dirty="0"/>
          </a:p>
        </p:txBody>
      </p:sp>
      <p:sp>
        <p:nvSpPr>
          <p:cNvPr id="10" name="Rounded Rectangle"/>
          <p:cNvSpPr/>
          <p:nvPr/>
        </p:nvSpPr>
        <p:spPr>
          <a:xfrm>
            <a:off x="2686050" y="3503613"/>
            <a:ext cx="8928100" cy="400645"/>
          </a:xfrm>
          <a:prstGeom prst="roundRect">
            <a:avLst>
              <a:gd name="adj" fmla="val 26944"/>
            </a:avLst>
          </a:prstGeom>
          <a:solidFill>
            <a:srgbClr val="FFE6D3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11" name="Rounded Rectangle"/>
          <p:cNvSpPr/>
          <p:nvPr/>
        </p:nvSpPr>
        <p:spPr>
          <a:xfrm>
            <a:off x="2806700" y="3640435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FF4D8D"/>
          </a:solidFill>
          <a:ln>
            <a:noFill/>
          </a:ln>
        </p:spPr>
      </p:sp>
      <p:sp>
        <p:nvSpPr>
          <p:cNvPr id="12" name="Text: С детства любил растения, его звали «мал"/>
          <p:cNvSpPr txBox="1"/>
          <p:nvPr/>
        </p:nvSpPr>
        <p:spPr>
          <a:xfrm>
            <a:off x="3035300" y="3591878"/>
            <a:ext cx="4665266" cy="2228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С детства любил растения, его звали «маленький ботаник».</a:t>
            </a:r>
            <a:endParaRPr lang="en-US" sz="1350" dirty="0"/>
          </a:p>
        </p:txBody>
      </p:sp>
      <p:sp>
        <p:nvSpPr>
          <p:cNvPr id="13" name="Rounded Rectangle"/>
          <p:cNvSpPr/>
          <p:nvPr/>
        </p:nvSpPr>
        <p:spPr>
          <a:xfrm>
            <a:off x="2686050" y="4005858"/>
            <a:ext cx="8928100" cy="400645"/>
          </a:xfrm>
          <a:prstGeom prst="roundRect">
            <a:avLst>
              <a:gd name="adj" fmla="val 26944"/>
            </a:avLst>
          </a:prstGeom>
          <a:solidFill>
            <a:srgbClr val="FFE6D3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14" name="Rounded Rectangle"/>
          <p:cNvSpPr/>
          <p:nvPr/>
        </p:nvSpPr>
        <p:spPr>
          <a:xfrm>
            <a:off x="2806700" y="4142680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6D4CFF"/>
          </a:solidFill>
          <a:ln>
            <a:noFill/>
          </a:ln>
        </p:spPr>
      </p:sp>
      <p:sp>
        <p:nvSpPr>
          <p:cNvPr id="15" name="Text: Учился на врача и ботаника в Лунде и Упс"/>
          <p:cNvSpPr txBox="1"/>
          <p:nvPr/>
        </p:nvSpPr>
        <p:spPr>
          <a:xfrm>
            <a:off x="3035300" y="4094123"/>
            <a:ext cx="3631009" cy="2228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Учился на врача и ботаника в Лунде и Упсале.</a:t>
            </a:r>
            <a:endParaRPr lang="en-US" sz="1350" dirty="0"/>
          </a:p>
        </p:txBody>
      </p:sp>
      <p:sp>
        <p:nvSpPr>
          <p:cNvPr id="16" name="Rounded Rectangle"/>
          <p:cNvSpPr/>
          <p:nvPr/>
        </p:nvSpPr>
        <p:spPr>
          <a:xfrm>
            <a:off x="2686050" y="4508103"/>
            <a:ext cx="8928100" cy="400645"/>
          </a:xfrm>
          <a:prstGeom prst="roundRect">
            <a:avLst>
              <a:gd name="adj" fmla="val 26944"/>
            </a:avLst>
          </a:prstGeom>
          <a:solidFill>
            <a:srgbClr val="FFE6D3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17" name="Rounded Rectangle"/>
          <p:cNvSpPr/>
          <p:nvPr/>
        </p:nvSpPr>
        <p:spPr>
          <a:xfrm>
            <a:off x="2806700" y="4644926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FFD24C"/>
          </a:solidFill>
          <a:ln>
            <a:noFill/>
          </a:ln>
        </p:spPr>
      </p:sp>
      <p:sp>
        <p:nvSpPr>
          <p:cNvPr id="18" name="Text: В 1735 году стал доктором медицины в Гол"/>
          <p:cNvSpPr txBox="1"/>
          <p:nvPr/>
        </p:nvSpPr>
        <p:spPr>
          <a:xfrm>
            <a:off x="3035300" y="4596368"/>
            <a:ext cx="4010323" cy="2228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В 1735 году стал доктором медицины в Голландии.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577850" y="2107009"/>
            <a:ext cx="1631851" cy="349250"/>
          </a:xfrm>
          <a:prstGeom prst="roundRect">
            <a:avLst>
              <a:gd name="adj" fmla="val 50000"/>
            </a:avLst>
          </a:prstGeom>
          <a:solidFill>
            <a:srgbClr val="FF4D8D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3" name="Text: главное открытие"/>
          <p:cNvSpPr txBox="1"/>
          <p:nvPr/>
        </p:nvSpPr>
        <p:spPr>
          <a:xfrm>
            <a:off x="711200" y="2164159"/>
            <a:ext cx="1365151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66" dirty="0">
                <a:solidFill>
                  <a:srgbClr val="FFF2E8"/>
                </a:solidFill>
                <a:latin typeface="Segoe UI"/>
                <a:ea typeface="Segoe UI"/>
                <a:cs typeface="Segoe UI"/>
              </a:rPr>
              <a:t>главное открытие</a:t>
            </a:r>
            <a:endParaRPr lang="en-US" sz="1100" dirty="0"/>
          </a:p>
        </p:txBody>
      </p:sp>
      <p:sp>
        <p:nvSpPr>
          <p:cNvPr id="4" name="Text: Двойные названия"/>
          <p:cNvSpPr txBox="1"/>
          <p:nvPr/>
        </p:nvSpPr>
        <p:spPr>
          <a:xfrm>
            <a:off x="571500" y="2661364"/>
            <a:ext cx="3370560" cy="3600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Двойные названия</a:t>
            </a:r>
            <a:endParaRPr lang="en-US" sz="2700" dirty="0"/>
          </a:p>
        </p:txBody>
      </p:sp>
      <p:sp>
        <p:nvSpPr>
          <p:cNvPr id="5" name="Text: До Линнея у каждого растения было много "/>
          <p:cNvSpPr txBox="1"/>
          <p:nvPr/>
        </p:nvSpPr>
        <p:spPr>
          <a:xfrm>
            <a:off x="571500" y="3113782"/>
            <a:ext cx="7782421" cy="4970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До Линнея у каждого растения было много разных имён. Он предложил давать каждому виду</a:t>
            </a:r>
            <a:r>
              <a:rPr lang="en-US" sz="1350" b="1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 два</a:t>
            </a:r>
            <a:br>
              <a:rPr lang="en-US" sz="1350"/>
            </a:br>
            <a:r>
              <a:rPr lang="en-US" sz="1350" b="1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слова</a:t>
            </a:r>
            <a:r>
              <a:rPr lang="en-US" sz="135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: сначала род, потом вид.</a:t>
            </a:r>
            <a:endParaRPr lang="en-US" sz="1350" dirty="0"/>
          </a:p>
        </p:txBody>
      </p:sp>
      <p:sp>
        <p:nvSpPr>
          <p:cNvPr id="6" name="Rounded Rectangle"/>
          <p:cNvSpPr/>
          <p:nvPr/>
        </p:nvSpPr>
        <p:spPr>
          <a:xfrm rot="21558000">
            <a:off x="577851" y="3808611"/>
            <a:ext cx="3585566" cy="942280"/>
          </a:xfrm>
          <a:prstGeom prst="roundRect">
            <a:avLst>
              <a:gd name="adj" fmla="val 12804"/>
            </a:avLst>
          </a:prstGeom>
          <a:solidFill>
            <a:srgbClr val="FF4D8D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44901" dir="2700000" sx="100000" sy="100000" algn="ctr" rotWithShape="0">
              <a:srgbClr val="2D1B4E"/>
            </a:outerShdw>
          </a:effectLst>
        </p:spPr>
      </p:sp>
      <p:sp>
        <p:nvSpPr>
          <p:cNvPr id="7" name="Text: Felis catus"/>
          <p:cNvSpPr txBox="1"/>
          <p:nvPr/>
        </p:nvSpPr>
        <p:spPr>
          <a:xfrm rot="21558000">
            <a:off x="747113" y="3935506"/>
            <a:ext cx="1182985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spc="-4" dirty="0">
                <a:solidFill>
                  <a:srgbClr val="FFF2E8"/>
                </a:solidFill>
                <a:latin typeface="Arial"/>
                <a:ea typeface="Arial"/>
                <a:cs typeface="Arial"/>
              </a:rPr>
              <a:t>Felis catus</a:t>
            </a:r>
            <a:endParaRPr lang="en-US" sz="1800" dirty="0"/>
          </a:p>
        </p:txBody>
      </p:sp>
      <p:sp>
        <p:nvSpPr>
          <p:cNvPr id="8" name="Text: домашняя кошка"/>
          <p:cNvSpPr txBox="1"/>
          <p:nvPr/>
        </p:nvSpPr>
        <p:spPr>
          <a:xfrm rot="21558000">
            <a:off x="751670" y="4364052"/>
            <a:ext cx="1295400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FF2E8"/>
                </a:solidFill>
                <a:latin typeface="Segoe UI"/>
                <a:ea typeface="Segoe UI"/>
                <a:cs typeface="Segoe UI"/>
              </a:rPr>
              <a:t>домашняя кошка</a:t>
            </a:r>
            <a:endParaRPr lang="en-US" sz="1300" dirty="0"/>
          </a:p>
        </p:txBody>
      </p:sp>
      <p:sp>
        <p:nvSpPr>
          <p:cNvPr id="9" name="Rounded Rectangle"/>
          <p:cNvSpPr/>
          <p:nvPr/>
        </p:nvSpPr>
        <p:spPr>
          <a:xfrm rot="30000">
            <a:off x="4303117" y="3808611"/>
            <a:ext cx="3585667" cy="942281"/>
          </a:xfrm>
          <a:prstGeom prst="roundRect">
            <a:avLst>
              <a:gd name="adj" fmla="val 12804"/>
            </a:avLst>
          </a:prstGeom>
          <a:solidFill>
            <a:srgbClr val="6D4CFF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44901" dir="2700000" sx="100000" sy="100000" algn="ctr" rotWithShape="0">
              <a:srgbClr val="2D1B4E"/>
            </a:outerShdw>
          </a:effectLst>
        </p:spPr>
      </p:sp>
      <p:sp>
        <p:nvSpPr>
          <p:cNvPr id="10" name="Text: Rosa canina"/>
          <p:cNvSpPr txBox="1"/>
          <p:nvPr/>
        </p:nvSpPr>
        <p:spPr>
          <a:xfrm rot="30000">
            <a:off x="4476221" y="3914621"/>
            <a:ext cx="1341140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spc="-4" dirty="0">
                <a:solidFill>
                  <a:srgbClr val="FFF2E8"/>
                </a:solidFill>
                <a:latin typeface="Arial"/>
                <a:ea typeface="Arial"/>
                <a:cs typeface="Arial"/>
              </a:rPr>
              <a:t>Rosa canina</a:t>
            </a:r>
            <a:endParaRPr lang="en-US" sz="1800" dirty="0"/>
          </a:p>
        </p:txBody>
      </p:sp>
      <p:sp>
        <p:nvSpPr>
          <p:cNvPr id="11" name="Text: шиповник"/>
          <p:cNvSpPr txBox="1"/>
          <p:nvPr/>
        </p:nvSpPr>
        <p:spPr>
          <a:xfrm rot="30000">
            <a:off x="4472974" y="4341404"/>
            <a:ext cx="776784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FF2E8"/>
                </a:solidFill>
                <a:latin typeface="Segoe UI"/>
                <a:ea typeface="Segoe UI"/>
                <a:cs typeface="Segoe UI"/>
              </a:rPr>
              <a:t>шиповник</a:t>
            </a:r>
            <a:endParaRPr lang="en-US" sz="1300" dirty="0"/>
          </a:p>
        </p:txBody>
      </p:sp>
      <p:sp>
        <p:nvSpPr>
          <p:cNvPr id="12" name="Rounded Rectangle"/>
          <p:cNvSpPr/>
          <p:nvPr/>
        </p:nvSpPr>
        <p:spPr>
          <a:xfrm rot="21558000">
            <a:off x="8028484" y="3808611"/>
            <a:ext cx="3585665" cy="942280"/>
          </a:xfrm>
          <a:prstGeom prst="roundRect">
            <a:avLst>
              <a:gd name="adj" fmla="val 12804"/>
            </a:avLst>
          </a:prstGeom>
          <a:solidFill>
            <a:srgbClr val="FFD24C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44901" dir="2700000" sx="100000" sy="100000" algn="ctr" rotWithShape="0">
              <a:srgbClr val="2D1B4E"/>
            </a:outerShdw>
          </a:effectLst>
        </p:spPr>
      </p:sp>
      <p:sp>
        <p:nvSpPr>
          <p:cNvPr id="13" name="Text: Homo sapiens"/>
          <p:cNvSpPr txBox="1"/>
          <p:nvPr/>
        </p:nvSpPr>
        <p:spPr>
          <a:xfrm rot="21558000">
            <a:off x="8197732" y="3933226"/>
            <a:ext cx="155644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spc="-4" dirty="0">
                <a:solidFill>
                  <a:srgbClr val="2D1B4E"/>
                </a:solidFill>
                <a:latin typeface="Arial"/>
                <a:ea typeface="Arial"/>
                <a:cs typeface="Arial"/>
              </a:rPr>
              <a:t>Homo sapiens</a:t>
            </a:r>
            <a:endParaRPr lang="en-US" sz="1800" dirty="0"/>
          </a:p>
        </p:txBody>
      </p:sp>
      <p:sp>
        <p:nvSpPr>
          <p:cNvPr id="14" name="Text: человек разумный"/>
          <p:cNvSpPr txBox="1"/>
          <p:nvPr/>
        </p:nvSpPr>
        <p:spPr>
          <a:xfrm rot="21558000">
            <a:off x="8202299" y="4363321"/>
            <a:ext cx="1415157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человек разумный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577850" y="1499096"/>
            <a:ext cx="1544836" cy="349250"/>
          </a:xfrm>
          <a:prstGeom prst="roundRect">
            <a:avLst>
              <a:gd name="adj" fmla="val 50000"/>
            </a:avLst>
          </a:prstGeom>
          <a:solidFill>
            <a:srgbClr val="6D4CFF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3" name="Text: как это устроено"/>
          <p:cNvSpPr txBox="1"/>
          <p:nvPr/>
        </p:nvSpPr>
        <p:spPr>
          <a:xfrm>
            <a:off x="711200" y="1556246"/>
            <a:ext cx="127813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66" dirty="0">
                <a:solidFill>
                  <a:srgbClr val="FFF2E8"/>
                </a:solidFill>
                <a:latin typeface="Segoe UI"/>
                <a:ea typeface="Segoe UI"/>
                <a:cs typeface="Segoe UI"/>
              </a:rPr>
              <a:t>как это устроено</a:t>
            </a:r>
            <a:endParaRPr lang="en-US" sz="1100" dirty="0"/>
          </a:p>
        </p:txBody>
      </p:sp>
      <p:sp>
        <p:nvSpPr>
          <p:cNvPr id="4" name="Text: Лестница живого мира"/>
          <p:cNvSpPr txBox="1"/>
          <p:nvPr/>
        </p:nvSpPr>
        <p:spPr>
          <a:xfrm>
            <a:off x="571500" y="2053451"/>
            <a:ext cx="4060031" cy="3600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Лестница живого мира</a:t>
            </a:r>
            <a:endParaRPr lang="en-US" sz="2700" dirty="0"/>
          </a:p>
        </p:txBody>
      </p:sp>
      <p:sp>
        <p:nvSpPr>
          <p:cNvPr id="5" name="Text: Живой мир Линней расположил по группам о"/>
          <p:cNvSpPr txBox="1"/>
          <p:nvPr/>
        </p:nvSpPr>
        <p:spPr>
          <a:xfrm>
            <a:off x="571500" y="2505809"/>
            <a:ext cx="6495058" cy="24860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Живой мир Линней расположил по группам одна внутри другой — как матрёшки.</a:t>
            </a:r>
            <a:endParaRPr lang="en-US" sz="1350" dirty="0"/>
          </a:p>
        </p:txBody>
      </p:sp>
      <p:sp>
        <p:nvSpPr>
          <p:cNvPr id="6" name="Rounded Rectangle"/>
          <p:cNvSpPr/>
          <p:nvPr/>
        </p:nvSpPr>
        <p:spPr>
          <a:xfrm rot="21570000">
            <a:off x="577850" y="2952155"/>
            <a:ext cx="11036301" cy="530225"/>
          </a:xfrm>
          <a:prstGeom prst="roundRect">
            <a:avLst>
              <a:gd name="adj" fmla="val 20359"/>
            </a:avLst>
          </a:prstGeom>
          <a:solidFill>
            <a:srgbClr val="FFE6D3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7" name="Rounded Rectangle"/>
          <p:cNvSpPr/>
          <p:nvPr/>
        </p:nvSpPr>
        <p:spPr>
          <a:xfrm rot="21570000">
            <a:off x="730441" y="3104055"/>
            <a:ext cx="658713" cy="314325"/>
          </a:xfrm>
          <a:prstGeom prst="roundRect">
            <a:avLst>
              <a:gd name="adj" fmla="val 50000"/>
            </a:avLst>
          </a:prstGeom>
          <a:solidFill>
            <a:srgbClr val="6D4CFF"/>
          </a:solidFill>
          <a:ln w="12700" cap="flat" cmpd="sng" algn="ctr">
            <a:solidFill>
              <a:srgbClr val="2D1B4E"/>
            </a:solidFill>
            <a:miter lim="800000"/>
          </a:ln>
        </p:spPr>
      </p:sp>
      <p:sp>
        <p:nvSpPr>
          <p:cNvPr id="8" name="Text: класс"/>
          <p:cNvSpPr txBox="1"/>
          <p:nvPr/>
        </p:nvSpPr>
        <p:spPr>
          <a:xfrm rot="21570000">
            <a:off x="838253" y="3126281"/>
            <a:ext cx="442813" cy="238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spc="-4" dirty="0">
                <a:solidFill>
                  <a:srgbClr val="FFF2E8"/>
                </a:solidFill>
                <a:latin typeface="Segoe UI"/>
                <a:ea typeface="Segoe UI"/>
                <a:cs typeface="Segoe UI"/>
              </a:rPr>
              <a:t>класс</a:t>
            </a:r>
            <a:endParaRPr lang="en-US" sz="1250" dirty="0"/>
          </a:p>
        </p:txBody>
      </p:sp>
      <p:sp>
        <p:nvSpPr>
          <p:cNvPr id="9" name="Text: самая большая группа похожих существ"/>
          <p:cNvSpPr txBox="1"/>
          <p:nvPr/>
        </p:nvSpPr>
        <p:spPr>
          <a:xfrm rot="21570000">
            <a:off x="1522440" y="3137780"/>
            <a:ext cx="3051671" cy="2146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самая большая группа похожих существ</a:t>
            </a:r>
            <a:endParaRPr lang="en-US" sz="1300" dirty="0"/>
          </a:p>
        </p:txBody>
      </p:sp>
      <p:sp>
        <p:nvSpPr>
          <p:cNvPr id="10" name="Rounded Rectangle"/>
          <p:cNvSpPr/>
          <p:nvPr/>
        </p:nvSpPr>
        <p:spPr>
          <a:xfrm rot="30000">
            <a:off x="577850" y="3577630"/>
            <a:ext cx="11036301" cy="530225"/>
          </a:xfrm>
          <a:prstGeom prst="roundRect">
            <a:avLst>
              <a:gd name="adj" fmla="val 20359"/>
            </a:avLst>
          </a:prstGeom>
          <a:solidFill>
            <a:srgbClr val="FFE6D3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11" name="Rounded Rectangle"/>
          <p:cNvSpPr/>
          <p:nvPr/>
        </p:nvSpPr>
        <p:spPr>
          <a:xfrm rot="30000">
            <a:off x="730424" y="3645568"/>
            <a:ext cx="1561406" cy="314325"/>
          </a:xfrm>
          <a:prstGeom prst="roundRect">
            <a:avLst>
              <a:gd name="adj" fmla="val 50000"/>
            </a:avLst>
          </a:prstGeom>
          <a:solidFill>
            <a:srgbClr val="FF4D8D"/>
          </a:solidFill>
          <a:ln w="12700" cap="flat" cmpd="sng" algn="ctr">
            <a:solidFill>
              <a:srgbClr val="2D1B4E"/>
            </a:solidFill>
            <a:miter lim="800000"/>
          </a:ln>
        </p:spPr>
      </p:sp>
      <p:sp>
        <p:nvSpPr>
          <p:cNvPr id="12" name="Text: отряд / порядок"/>
          <p:cNvSpPr txBox="1"/>
          <p:nvPr/>
        </p:nvSpPr>
        <p:spPr>
          <a:xfrm rot="30000">
            <a:off x="838513" y="3667794"/>
            <a:ext cx="1345506" cy="238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spc="-4" dirty="0">
                <a:solidFill>
                  <a:srgbClr val="FFF2E8"/>
                </a:solidFill>
                <a:latin typeface="Segoe UI"/>
                <a:ea typeface="Segoe UI"/>
                <a:cs typeface="Segoe UI"/>
              </a:rPr>
              <a:t>отряд / порядок</a:t>
            </a:r>
            <a:endParaRPr lang="en-US" sz="1250" dirty="0"/>
          </a:p>
        </p:txBody>
      </p:sp>
      <p:sp>
        <p:nvSpPr>
          <p:cNvPr id="13" name="Text: поменьше, внутри класса"/>
          <p:cNvSpPr txBox="1"/>
          <p:nvPr/>
        </p:nvSpPr>
        <p:spPr>
          <a:xfrm rot="30000">
            <a:off x="2425098" y="3712994"/>
            <a:ext cx="1918692" cy="2146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поменьше, внутри класса</a:t>
            </a:r>
            <a:endParaRPr lang="en-US" sz="1300" dirty="0"/>
          </a:p>
        </p:txBody>
      </p:sp>
      <p:sp>
        <p:nvSpPr>
          <p:cNvPr id="14" name="Rounded Rectangle"/>
          <p:cNvSpPr/>
          <p:nvPr/>
        </p:nvSpPr>
        <p:spPr>
          <a:xfrm rot="21570000">
            <a:off x="577850" y="4203105"/>
            <a:ext cx="11036301" cy="530225"/>
          </a:xfrm>
          <a:prstGeom prst="roundRect">
            <a:avLst>
              <a:gd name="adj" fmla="val 20359"/>
            </a:avLst>
          </a:prstGeom>
          <a:solidFill>
            <a:srgbClr val="FFE6D3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15" name="Rounded Rectangle"/>
          <p:cNvSpPr/>
          <p:nvPr/>
        </p:nvSpPr>
        <p:spPr>
          <a:xfrm rot="21570000">
            <a:off x="730444" y="4355594"/>
            <a:ext cx="523776" cy="314325"/>
          </a:xfrm>
          <a:prstGeom prst="roundRect">
            <a:avLst>
              <a:gd name="adj" fmla="val 50000"/>
            </a:avLst>
          </a:prstGeom>
          <a:solidFill>
            <a:srgbClr val="FFD24C"/>
          </a:solidFill>
          <a:ln w="12700" cap="flat" cmpd="sng" algn="ctr">
            <a:solidFill>
              <a:srgbClr val="2D1B4E"/>
            </a:solidFill>
            <a:miter lim="800000"/>
          </a:ln>
        </p:spPr>
      </p:sp>
      <p:sp>
        <p:nvSpPr>
          <p:cNvPr id="16" name="Text: род"/>
          <p:cNvSpPr txBox="1"/>
          <p:nvPr/>
        </p:nvSpPr>
        <p:spPr>
          <a:xfrm rot="21570000">
            <a:off x="838255" y="4377819"/>
            <a:ext cx="307876" cy="238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род</a:t>
            </a:r>
            <a:endParaRPr lang="en-US" sz="1250" dirty="0"/>
          </a:p>
        </p:txBody>
      </p:sp>
      <p:sp>
        <p:nvSpPr>
          <p:cNvPr id="17" name="Text: очень похожие друг на друга"/>
          <p:cNvSpPr txBox="1"/>
          <p:nvPr/>
        </p:nvSpPr>
        <p:spPr>
          <a:xfrm rot="21570000">
            <a:off x="1387523" y="4393552"/>
            <a:ext cx="2216249" cy="2146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очень похожие друг на друга</a:t>
            </a:r>
            <a:endParaRPr lang="en-US" sz="1300" dirty="0"/>
          </a:p>
        </p:txBody>
      </p:sp>
      <p:sp>
        <p:nvSpPr>
          <p:cNvPr id="18" name="Rounded Rectangle"/>
          <p:cNvSpPr/>
          <p:nvPr/>
        </p:nvSpPr>
        <p:spPr>
          <a:xfrm rot="30000">
            <a:off x="577850" y="4828580"/>
            <a:ext cx="11036301" cy="530225"/>
          </a:xfrm>
          <a:prstGeom prst="roundRect">
            <a:avLst>
              <a:gd name="adj" fmla="val 20359"/>
            </a:avLst>
          </a:prstGeom>
          <a:solidFill>
            <a:srgbClr val="FFE6D3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19" name="Rounded Rectangle"/>
          <p:cNvSpPr/>
          <p:nvPr/>
        </p:nvSpPr>
        <p:spPr>
          <a:xfrm rot="30000">
            <a:off x="730444" y="4891983"/>
            <a:ext cx="521990" cy="314325"/>
          </a:xfrm>
          <a:prstGeom prst="roundRect">
            <a:avLst>
              <a:gd name="adj" fmla="val 50000"/>
            </a:avLst>
          </a:prstGeom>
          <a:solidFill>
            <a:srgbClr val="FFD24C"/>
          </a:solidFill>
          <a:ln w="12700" cap="flat" cmpd="sng" algn="ctr">
            <a:solidFill>
              <a:srgbClr val="2D1B4E"/>
            </a:solidFill>
            <a:miter lim="800000"/>
          </a:ln>
        </p:spPr>
      </p:sp>
      <p:sp>
        <p:nvSpPr>
          <p:cNvPr id="20" name="Text: вид"/>
          <p:cNvSpPr txBox="1"/>
          <p:nvPr/>
        </p:nvSpPr>
        <p:spPr>
          <a:xfrm rot="30000">
            <a:off x="838533" y="4914208"/>
            <a:ext cx="306090" cy="238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вид</a:t>
            </a:r>
            <a:endParaRPr lang="en-US" sz="1250" dirty="0"/>
          </a:p>
        </p:txBody>
      </p:sp>
      <p:sp>
        <p:nvSpPr>
          <p:cNvPr id="21" name="Text: самая маленькая группа — одно существо"/>
          <p:cNvSpPr txBox="1"/>
          <p:nvPr/>
        </p:nvSpPr>
        <p:spPr>
          <a:xfrm rot="30000">
            <a:off x="1385697" y="4960537"/>
            <a:ext cx="3216573" cy="2146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самая маленькая группа — одно существо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577850" y="1949252"/>
            <a:ext cx="1692573" cy="349250"/>
          </a:xfrm>
          <a:prstGeom prst="roundRect">
            <a:avLst>
              <a:gd name="adj" fmla="val 50000"/>
            </a:avLst>
          </a:prstGeom>
          <a:solidFill>
            <a:srgbClr val="FFD24C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3" name="Text: интересные факты"/>
          <p:cNvSpPr txBox="1"/>
          <p:nvPr/>
        </p:nvSpPr>
        <p:spPr>
          <a:xfrm>
            <a:off x="711200" y="2006402"/>
            <a:ext cx="1425873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66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интересные факты</a:t>
            </a:r>
            <a:endParaRPr lang="en-US" sz="1100" dirty="0"/>
          </a:p>
        </p:txBody>
      </p:sp>
      <p:sp>
        <p:nvSpPr>
          <p:cNvPr id="4" name="Text: Знаешь ли ты?"/>
          <p:cNvSpPr txBox="1"/>
          <p:nvPr/>
        </p:nvSpPr>
        <p:spPr>
          <a:xfrm>
            <a:off x="571500" y="2516307"/>
            <a:ext cx="2560638" cy="3600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Знаешь ли ты?</a:t>
            </a:r>
            <a:endParaRPr lang="en-US" sz="2700" dirty="0"/>
          </a:p>
        </p:txBody>
      </p:sp>
      <p:sp>
        <p:nvSpPr>
          <p:cNvPr id="5" name="Rounded Rectangle"/>
          <p:cNvSpPr/>
          <p:nvPr/>
        </p:nvSpPr>
        <p:spPr>
          <a:xfrm>
            <a:off x="577850" y="3001367"/>
            <a:ext cx="11036300" cy="400645"/>
          </a:xfrm>
          <a:prstGeom prst="roundRect">
            <a:avLst>
              <a:gd name="adj" fmla="val 26944"/>
            </a:avLst>
          </a:prstGeom>
          <a:solidFill>
            <a:srgbClr val="FFE6D3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6" name="Rounded Rectangle"/>
          <p:cNvSpPr/>
          <p:nvPr/>
        </p:nvSpPr>
        <p:spPr>
          <a:xfrm>
            <a:off x="698500" y="3138190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FF4D8D"/>
          </a:solidFill>
          <a:ln>
            <a:noFill/>
          </a:ln>
        </p:spPr>
      </p:sp>
      <p:sp>
        <p:nvSpPr>
          <p:cNvPr id="7" name="Text: Линней назвал человека Homo sapiens — «ч"/>
          <p:cNvSpPr txBox="1"/>
          <p:nvPr/>
        </p:nvSpPr>
        <p:spPr>
          <a:xfrm>
            <a:off x="927100" y="3089632"/>
            <a:ext cx="5008463" cy="2228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Линней назвал человека Homo sapiens — «человек разумный».</a:t>
            </a:r>
            <a:endParaRPr lang="en-US" sz="1350" dirty="0"/>
          </a:p>
        </p:txBody>
      </p:sp>
      <p:sp>
        <p:nvSpPr>
          <p:cNvPr id="8" name="Rounded Rectangle"/>
          <p:cNvSpPr/>
          <p:nvPr/>
        </p:nvSpPr>
        <p:spPr>
          <a:xfrm>
            <a:off x="577850" y="3503613"/>
            <a:ext cx="11036300" cy="400645"/>
          </a:xfrm>
          <a:prstGeom prst="roundRect">
            <a:avLst>
              <a:gd name="adj" fmla="val 26944"/>
            </a:avLst>
          </a:prstGeom>
          <a:solidFill>
            <a:srgbClr val="FFE6D3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9" name="Rounded Rectangle"/>
          <p:cNvSpPr/>
          <p:nvPr/>
        </p:nvSpPr>
        <p:spPr>
          <a:xfrm>
            <a:off x="698500" y="3640435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6D4CFF"/>
          </a:solidFill>
          <a:ln>
            <a:noFill/>
          </a:ln>
        </p:spPr>
      </p:sp>
      <p:sp>
        <p:nvSpPr>
          <p:cNvPr id="10" name="Text: В книге «Система природы» (1735) он опис"/>
          <p:cNvSpPr txBox="1"/>
          <p:nvPr/>
        </p:nvSpPr>
        <p:spPr>
          <a:xfrm>
            <a:off x="927100" y="3591878"/>
            <a:ext cx="4923532" cy="2228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В книге «Система природы» (1735) он описал весь живой мир.</a:t>
            </a:r>
            <a:endParaRPr lang="en-US" sz="1350" dirty="0"/>
          </a:p>
        </p:txBody>
      </p:sp>
      <p:sp>
        <p:nvSpPr>
          <p:cNvPr id="11" name="Rounded Rectangle"/>
          <p:cNvSpPr/>
          <p:nvPr/>
        </p:nvSpPr>
        <p:spPr>
          <a:xfrm>
            <a:off x="577850" y="4005858"/>
            <a:ext cx="11036300" cy="400645"/>
          </a:xfrm>
          <a:prstGeom prst="roundRect">
            <a:avLst>
              <a:gd name="adj" fmla="val 26944"/>
            </a:avLst>
          </a:prstGeom>
          <a:solidFill>
            <a:srgbClr val="FFE6D3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12" name="Rounded Rectangle"/>
          <p:cNvSpPr/>
          <p:nvPr/>
        </p:nvSpPr>
        <p:spPr>
          <a:xfrm>
            <a:off x="698500" y="4142680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FFD24C"/>
          </a:solidFill>
          <a:ln>
            <a:noFill/>
          </a:ln>
        </p:spPr>
      </p:sp>
      <p:sp>
        <p:nvSpPr>
          <p:cNvPr id="13" name="Text: Самая важная книга — «Виды растений» (17"/>
          <p:cNvSpPr txBox="1"/>
          <p:nvPr/>
        </p:nvSpPr>
        <p:spPr>
          <a:xfrm>
            <a:off x="927100" y="4094123"/>
            <a:ext cx="5735638" cy="2228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Самая важная книга — «Виды растений» (1753), описания всех растений.</a:t>
            </a:r>
            <a:endParaRPr lang="en-US" sz="1350" dirty="0"/>
          </a:p>
        </p:txBody>
      </p:sp>
      <p:sp>
        <p:nvSpPr>
          <p:cNvPr id="14" name="Rounded Rectangle"/>
          <p:cNvSpPr/>
          <p:nvPr/>
        </p:nvSpPr>
        <p:spPr>
          <a:xfrm>
            <a:off x="577850" y="4508103"/>
            <a:ext cx="11036300" cy="400645"/>
          </a:xfrm>
          <a:prstGeom prst="roundRect">
            <a:avLst>
              <a:gd name="adj" fmla="val 26944"/>
            </a:avLst>
          </a:prstGeom>
          <a:solidFill>
            <a:srgbClr val="FFE6D3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15" name="Rounded Rectangle"/>
          <p:cNvSpPr/>
          <p:nvPr/>
        </p:nvSpPr>
        <p:spPr>
          <a:xfrm>
            <a:off x="698500" y="4644926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FF4D8D"/>
          </a:solidFill>
          <a:ln>
            <a:noFill/>
          </a:ln>
        </p:spPr>
      </p:sp>
      <p:sp>
        <p:nvSpPr>
          <p:cNvPr id="16" name="Text: Символы ♂ и ♀ для мужского и женского пр"/>
          <p:cNvSpPr txBox="1"/>
          <p:nvPr/>
        </p:nvSpPr>
        <p:spPr>
          <a:xfrm>
            <a:off x="927100" y="4596368"/>
            <a:ext cx="5025231" cy="2228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Символы ♂ и ♀ для мужского и женского придумал именно он.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9883" cy="6857799"/>
          </a:xfrm>
          <a:prstGeom prst="rect">
            <a:avLst/>
          </a:prstGeom>
          <a:ln>
            <a:noFill/>
          </a:ln>
        </p:spPr>
      </p:pic>
      <p:sp>
        <p:nvSpPr>
          <p:cNvPr id="3" name="Rounded Rectangle"/>
          <p:cNvSpPr/>
          <p:nvPr/>
        </p:nvSpPr>
        <p:spPr>
          <a:xfrm>
            <a:off x="577850" y="839986"/>
            <a:ext cx="592138" cy="349250"/>
          </a:xfrm>
          <a:prstGeom prst="roundRect">
            <a:avLst>
              <a:gd name="adj" fmla="val 50000"/>
            </a:avLst>
          </a:prstGeom>
          <a:solidFill>
            <a:srgbClr val="FFD24C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4" name="Text: итог"/>
          <p:cNvSpPr txBox="1"/>
          <p:nvPr/>
        </p:nvSpPr>
        <p:spPr>
          <a:xfrm>
            <a:off x="711200" y="897136"/>
            <a:ext cx="325438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66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итог</a:t>
            </a:r>
            <a:endParaRPr lang="en-US" sz="1100" dirty="0"/>
          </a:p>
        </p:txBody>
      </p:sp>
      <p:sp>
        <p:nvSpPr>
          <p:cNvPr id="5" name="Text: Спасибо за внимание!"/>
          <p:cNvSpPr txBox="1"/>
          <p:nvPr/>
        </p:nvSpPr>
        <p:spPr>
          <a:xfrm>
            <a:off x="4083546" y="1468140"/>
            <a:ext cx="4024809" cy="11947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4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spc="-96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Спасибо</a:t>
            </a:r>
            <a:br>
              <a:rPr lang="en-US" sz="4800"/>
            </a:br>
            <a:r>
              <a:rPr lang="en-US" sz="4800" b="1" spc="-96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за внимание!</a:t>
            </a:r>
            <a:endParaRPr lang="en-US" sz="4800" dirty="0"/>
          </a:p>
        </p:txBody>
      </p:sp>
      <p:sp>
        <p:nvSpPr>
          <p:cNvPr id="6" name="Text: Систему Линнея используют учёные всего м"/>
          <p:cNvSpPr txBox="1"/>
          <p:nvPr/>
        </p:nvSpPr>
        <p:spPr>
          <a:xfrm>
            <a:off x="3533279" y="2704068"/>
            <a:ext cx="5125442" cy="2578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Систему Линнея используют учёные всего мира и по сей день.</a:t>
            </a:r>
            <a:endParaRPr lang="en-US" sz="1400" dirty="0"/>
          </a:p>
        </p:txBody>
      </p:sp>
      <p:sp>
        <p:nvSpPr>
          <p:cNvPr id="7" name="Text: Выполнила: Самушенко Вероника, ученица 5"/>
          <p:cNvSpPr txBox="1"/>
          <p:nvPr/>
        </p:nvSpPr>
        <p:spPr>
          <a:xfrm>
            <a:off x="4091682" y="3132653"/>
            <a:ext cx="4008537" cy="2393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Выполнила: Самушенко Вероника, ученица 5г класса</a:t>
            </a:r>
            <a:endParaRPr lang="en-US" sz="1300" dirty="0"/>
          </a:p>
        </p:txBody>
      </p:sp>
      <p:sp>
        <p:nvSpPr>
          <p:cNvPr id="8" name="Rounded Rectangle"/>
          <p:cNvSpPr/>
          <p:nvPr/>
        </p:nvSpPr>
        <p:spPr>
          <a:xfrm rot="21540000">
            <a:off x="5089525" y="3557389"/>
            <a:ext cx="2012951" cy="2457451"/>
          </a:xfrm>
          <a:prstGeom prst="roundRect">
            <a:avLst>
              <a:gd name="adj" fmla="val 6467"/>
            </a:avLst>
          </a:prstGeom>
          <a:noFill/>
          <a:ln w="19050" cap="flat" cmpd="sng" algn="ctr">
            <a:solidFill>
              <a:srgbClr val="2D1B4E"/>
            </a:solidFill>
            <a:miter lim="800000"/>
          </a:ln>
          <a:effectLst>
            <a:outerShdw blurRad="0" dist="53882" dir="2700000" sx="100000" sy="100000" algn="ctr" rotWithShape="0">
              <a:srgbClr val="2D1B4E"/>
            </a:outerShdw>
          </a:effectLst>
        </p:spPr>
      </p:sp>
      <p:pic>
        <p:nvPicPr>
          <p:cNvPr id="9" name="Image: Портрет Линнея"/>
          <p:cNvPicPr>
            <a:picLocks noChangeAspect="1"/>
          </p:cNvPicPr>
          <p:nvPr/>
        </p:nvPicPr>
        <p:blipFill>
          <a:blip r:embed="rId3"/>
          <a:srcRect l="0" t="1687" r="0" b="1687"/>
          <a:stretch>
            <a:fillRect/>
          </a:stretch>
        </p:blipFill>
        <p:spPr>
          <a:xfrm rot="21540000">
            <a:off x="5099050" y="3566914"/>
            <a:ext cx="1993901" cy="2438401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